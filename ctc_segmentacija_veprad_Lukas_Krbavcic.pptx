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9" r:id="rId4"/>
    <p:sldId id="272" r:id="rId5"/>
    <p:sldId id="260" r:id="rId6"/>
    <p:sldId id="261" r:id="rId7"/>
    <p:sldId id="258" r:id="rId8"/>
    <p:sldId id="262" r:id="rId9"/>
    <p:sldId id="264" r:id="rId10"/>
    <p:sldId id="265" r:id="rId11"/>
    <p:sldId id="268" r:id="rId12"/>
    <p:sldId id="267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1929"/>
    <a:srgbClr val="0D9488"/>
    <a:srgbClr val="F7F9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r-H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Pouzdanost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F99-4E76-9C2F-B8EA693C6431}"/>
              </c:ext>
            </c:extLst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F99-4E76-9C2F-B8EA693C6431}"/>
              </c:ext>
            </c:extLst>
          </c:dPt>
          <c:dPt>
            <c:idx val="2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F99-4E76-9C2F-B8EA693C643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sr-Latn-R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F99-4E76-9C2F-B8EA693C643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sr-Latn-R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F99-4E76-9C2F-B8EA693C6431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sr-Latn-R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F99-4E76-9C2F-B8EA693C643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sr-Latn-R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Visoka (conf &gt; −1.0)</c:v>
                </c:pt>
                <c:pt idx="1">
                  <c:v>Srednja (−2.0 do −1.0)</c:v>
                </c:pt>
                <c:pt idx="2">
                  <c:v>Niska (conf &lt; −2.0)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43617</c:v>
                </c:pt>
                <c:pt idx="1">
                  <c:v>14169</c:v>
                </c:pt>
                <c:pt idx="2">
                  <c:v>13332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F99-4E76-9C2F-B8EA693C64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1310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lumaku/ctc-segmentation" TargetMode="Externa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columbia.edu/~julia/papers/dongetal2019.pdf" TargetMode="External"/><Relationship Id="rId2" Type="http://schemas.openxmlformats.org/officeDocument/2006/relationships/hyperlink" Target="https://arxiv.org/abs/2007.09127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lumaku/ctc-segmentation" TargetMode="External"/><Relationship Id="rId4" Type="http://schemas.openxmlformats.org/officeDocument/2006/relationships/hyperlink" Target="https://colab.research.google.com/github/NVIDIA/NeMo/blob/stable/tutorials/tools/CTC_Segmentation_Tutorial.ipynb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45720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r-HR" sz="1400" b="1" kern="0" spc="600" dirty="0">
                <a:solidFill>
                  <a:srgbClr val="F59E0B"/>
                </a:solidFill>
                <a:latin typeface="Consolas" pitchFamily="34" charset="0"/>
              </a:rPr>
              <a:t>PROJEKTNI ZADATAK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2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Segmentacija signala govora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temelju postupka CTC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48640" y="4114800"/>
            <a:ext cx="109728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r-HR" sz="18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Računalna obrada govora i jezika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Lukas</a:t>
            </a:r>
            <a:r>
              <a:rPr lang="hr-HR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Krbavčić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974424" y="6126480"/>
            <a:ext cx="1729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hr-HR" sz="1200" kern="0" spc="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RITEH</a:t>
            </a:r>
            <a:r>
              <a:rPr lang="en-US" sz="1200" kern="0" spc="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2026</a:t>
            </a:r>
            <a:endParaRPr lang="en-US" sz="1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402336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Cilj zadatka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Automatsko </a:t>
            </a:r>
            <a:r>
              <a:rPr lang="en-US" sz="1600" i="1" dirty="0" err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poravnanje</a:t>
            </a:r>
            <a:r>
              <a:rPr lang="en-US" sz="16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audio</a:t>
            </a:r>
            <a:r>
              <a:rPr lang="hr-HR" sz="16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snimaka i transkripata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33832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338328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37744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3063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Ulaz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51560" y="36118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Audiosnimka govora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(WAV, 16 kHz)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89120" y="2011680"/>
            <a:ext cx="33832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11" name="Shape 8"/>
          <p:cNvSpPr/>
          <p:nvPr/>
        </p:nvSpPr>
        <p:spPr>
          <a:xfrm>
            <a:off x="4389120" y="2011680"/>
            <a:ext cx="338328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37744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54880" y="3063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Transkript</a:t>
            </a:r>
            <a:r>
              <a:rPr lang="hr-HR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754880" y="36118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Tekstualni zapis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odgovarajućeg sadržaja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092440" y="2011680"/>
            <a:ext cx="33832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16" name="Shape 12"/>
          <p:cNvSpPr/>
          <p:nvPr/>
        </p:nvSpPr>
        <p:spPr>
          <a:xfrm>
            <a:off x="8092440" y="2011680"/>
            <a:ext cx="338328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237744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58200" y="3063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Izlaz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8458200" y="36118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Vremenske oznake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 svaku riječ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48640" y="5029200"/>
            <a:ext cx="73152" cy="12801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21" name="Text 16"/>
          <p:cNvSpPr/>
          <p:nvPr/>
        </p:nvSpPr>
        <p:spPr>
          <a:xfrm>
            <a:off x="822960" y="5074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822960" y="54406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Ručno označavanje granica riječi u tisućama audiosnimaka iznimno je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vremenski zahtjevno — potrebna je automatizirana metoda poravnanja.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r>
              <a:rPr lang="hr-HR" sz="2800" b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Connectionist Temporal Classification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Učenje poravnanja sekvenci različite duljine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73152" cy="13716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1168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Temeljna ideja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554480" y="233172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CTC omogućuje treniranje neuronske mreže za prepoznavanje sekvenci bez potrebe za ručno označenim granicama. Mreža predviđa znak (ili prazni simbol „blank”) u svakom vremenskom koraku, a CTC algoritam zbraja sve valjane putanje koje vode do ciljne sekvence.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" y="3657600"/>
            <a:ext cx="3200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97764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3977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Audio signal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31520" y="46177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Sirovi valni oblik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(16 kHz)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611880" y="4434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Shape 11"/>
          <p:cNvSpPr/>
          <p:nvPr/>
        </p:nvSpPr>
        <p:spPr>
          <a:xfrm>
            <a:off x="4480560" y="3657600"/>
            <a:ext cx="3200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97764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486400" y="3977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wav2vec2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4846320" y="46177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Konvolucijska +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mreža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7726680" y="4434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800" dirty="0"/>
          </a:p>
        </p:txBody>
      </p:sp>
      <p:sp>
        <p:nvSpPr>
          <p:cNvPr id="20" name="Shape 15"/>
          <p:cNvSpPr/>
          <p:nvPr/>
        </p:nvSpPr>
        <p:spPr>
          <a:xfrm>
            <a:off x="8595360" y="3657600"/>
            <a:ext cx="3200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0" y="397764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01200" y="3977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Log-vjerojatnosti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8961120" y="46177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Matrica T × V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(50 znakova/frame)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6126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alignment: koristimo poznati transkript da pronađemo NAJVJEROJATNIJU putanju kroz log-vjerojatnosti — time dobivamo točne vremenske granice za svaku riječ.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8729AFE-022C-B2AF-8792-FE689F9D8A01}"/>
              </a:ext>
            </a:extLst>
          </p:cNvPr>
          <p:cNvSpPr/>
          <p:nvPr/>
        </p:nvSpPr>
        <p:spPr>
          <a:xfrm>
            <a:off x="1121664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hr-HR" sz="2800" b="1" dirty="0">
                <a:solidFill>
                  <a:srgbClr val="CBD5E1"/>
                </a:solidFill>
                <a:latin typeface="Georgia" pitchFamily="34" charset="0"/>
              </a:rPr>
              <a:t>03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6A1431B-19B9-25D3-7376-78AC37C2BF19}"/>
              </a:ext>
            </a:extLst>
          </p:cNvPr>
          <p:cNvSpPr/>
          <p:nvPr/>
        </p:nvSpPr>
        <p:spPr>
          <a:xfrm>
            <a:off x="51816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CTC segmentacijski algoritam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1F6BD6D-8AB5-58CF-8666-3CB7FC3BBB42}"/>
              </a:ext>
            </a:extLst>
          </p:cNvPr>
          <p:cNvSpPr/>
          <p:nvPr/>
        </p:nvSpPr>
        <p:spPr>
          <a:xfrm>
            <a:off x="518160" y="1051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i="1" dirty="0" err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Dinamičko</a:t>
            </a:r>
            <a:r>
              <a:rPr lang="en-US" sz="15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i="1" dirty="0" err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programiranje</a:t>
            </a:r>
            <a:r>
              <a:rPr lang="hr-HR" sz="15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 određivanje</a:t>
            </a:r>
            <a:r>
              <a:rPr lang="en-US" sz="15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r-HR" sz="15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vremenskih pozicija</a:t>
            </a:r>
            <a:r>
              <a:rPr lang="en-US" sz="15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r-HR" sz="15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tokena u </a:t>
            </a:r>
            <a:r>
              <a:rPr lang="hr-HR" sz="1500" i="1" dirty="0" err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audiozapisu</a:t>
            </a:r>
            <a:endParaRPr lang="en-US" sz="15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AF1C29E-0E81-41BC-51B4-C887C4FBE589}"/>
              </a:ext>
            </a:extLst>
          </p:cNvPr>
          <p:cNvSpPr/>
          <p:nvPr/>
        </p:nvSpPr>
        <p:spPr>
          <a:xfrm>
            <a:off x="518160" y="1783080"/>
            <a:ext cx="110642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6543D98-192E-2707-211F-F9FC1F435B9F}"/>
              </a:ext>
            </a:extLst>
          </p:cNvPr>
          <p:cNvSpPr/>
          <p:nvPr/>
        </p:nvSpPr>
        <p:spPr>
          <a:xfrm>
            <a:off x="518160" y="1783080"/>
            <a:ext cx="73152" cy="8686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620057B-8C44-6157-D245-51D09F62DE23}"/>
              </a:ext>
            </a:extLst>
          </p:cNvPr>
          <p:cNvSpPr/>
          <p:nvPr/>
        </p:nvSpPr>
        <p:spPr>
          <a:xfrm>
            <a:off x="838200" y="18288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 svaki audio frame t i token cⱼ, algoritam izračunava kumulativnu vjerojatnost k(t,j) najbolje putanje do te točke. Konačno poravnanje je putanja koja maksimalno akumulira te vjerojatnosti kroz cijelu matricu.</a:t>
            </a:r>
            <a:endParaRPr lang="en-US" sz="12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653FA8E-A7B6-1ABF-EE36-72A07B09DA0D}"/>
              </a:ext>
            </a:extLst>
          </p:cNvPr>
          <p:cNvSpPr/>
          <p:nvPr/>
        </p:nvSpPr>
        <p:spPr>
          <a:xfrm>
            <a:off x="426720" y="2834640"/>
            <a:ext cx="365760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F9CBA16-2C42-8C60-6E94-5F0C1E434EF3}"/>
              </a:ext>
            </a:extLst>
          </p:cNvPr>
          <p:cNvSpPr/>
          <p:nvPr/>
        </p:nvSpPr>
        <p:spPr>
          <a:xfrm>
            <a:off x="426720" y="2834640"/>
            <a:ext cx="36576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FE0D888-3204-4FF5-D416-16BEA91873DB}"/>
              </a:ext>
            </a:extLst>
          </p:cNvPr>
          <p:cNvSpPr/>
          <p:nvPr/>
        </p:nvSpPr>
        <p:spPr>
          <a:xfrm>
            <a:off x="746760" y="3127248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E136659-0659-F513-FAA8-7CCA6EF1F41C}"/>
              </a:ext>
            </a:extLst>
          </p:cNvPr>
          <p:cNvSpPr/>
          <p:nvPr/>
        </p:nvSpPr>
        <p:spPr>
          <a:xfrm>
            <a:off x="746760" y="3127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F465687-FB85-B466-ED4F-F072779CE601}"/>
              </a:ext>
            </a:extLst>
          </p:cNvPr>
          <p:cNvSpPr/>
          <p:nvPr/>
        </p:nvSpPr>
        <p:spPr>
          <a:xfrm>
            <a:off x="1432560" y="3154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 probability</a:t>
            </a:r>
            <a:endParaRPr lang="en-US" sz="15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FB6DB48-FC5E-97D1-2190-FE9CDF497614}"/>
              </a:ext>
            </a:extLst>
          </p:cNvPr>
          <p:cNvSpPr/>
          <p:nvPr/>
        </p:nvSpPr>
        <p:spPr>
          <a:xfrm>
            <a:off x="609600" y="3794760"/>
            <a:ext cx="3291840" cy="594360"/>
          </a:xfrm>
          <a:prstGeom prst="rect">
            <a:avLst/>
          </a:prstGeom>
          <a:solidFill>
            <a:srgbClr val="0A1929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A205334-A69C-FA78-C395-F564A8A26705}"/>
              </a:ext>
            </a:extLst>
          </p:cNvPr>
          <p:cNvSpPr/>
          <p:nvPr/>
        </p:nvSpPr>
        <p:spPr>
          <a:xfrm>
            <a:off x="609600" y="37947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p_stay = k(t−1, j) · p(blank | t)</a:t>
            </a:r>
            <a:endParaRPr lang="en-US" sz="11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F9A0BC7-71CC-2667-B084-73EA7AA950D9}"/>
              </a:ext>
            </a:extLst>
          </p:cNvPr>
          <p:cNvSpPr/>
          <p:nvPr/>
        </p:nvSpPr>
        <p:spPr>
          <a:xfrm>
            <a:off x="701040" y="4480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Ostani u istom tokenu — mreža je emitirala blank simbol</a:t>
            </a:r>
            <a:endParaRPr lang="en-US" sz="11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B236FCA-2290-165B-EA25-57E63DC4F963}"/>
              </a:ext>
            </a:extLst>
          </p:cNvPr>
          <p:cNvSpPr/>
          <p:nvPr/>
        </p:nvSpPr>
        <p:spPr>
          <a:xfrm>
            <a:off x="4221480" y="2834640"/>
            <a:ext cx="365760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39DEC12-9101-D0A8-0D5A-D25869B38046}"/>
              </a:ext>
            </a:extLst>
          </p:cNvPr>
          <p:cNvSpPr/>
          <p:nvPr/>
        </p:nvSpPr>
        <p:spPr>
          <a:xfrm>
            <a:off x="4221480" y="2834640"/>
            <a:ext cx="36576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FFF817B0-1C51-D710-47BE-B3D44CEF44C7}"/>
              </a:ext>
            </a:extLst>
          </p:cNvPr>
          <p:cNvSpPr/>
          <p:nvPr/>
        </p:nvSpPr>
        <p:spPr>
          <a:xfrm>
            <a:off x="4541520" y="3127248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2818491-F77B-2E6A-450C-C40CB8A9CB72}"/>
              </a:ext>
            </a:extLst>
          </p:cNvPr>
          <p:cNvSpPr/>
          <p:nvPr/>
        </p:nvSpPr>
        <p:spPr>
          <a:xfrm>
            <a:off x="4541520" y="3127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72D9E62-508E-DE7A-E554-56DA7E5FEBB4}"/>
              </a:ext>
            </a:extLst>
          </p:cNvPr>
          <p:cNvSpPr/>
          <p:nvPr/>
        </p:nvSpPr>
        <p:spPr>
          <a:xfrm>
            <a:off x="5227320" y="3154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Transition probability</a:t>
            </a:r>
            <a:endParaRPr lang="en-US" sz="15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DCC40EC3-13F0-92EA-929D-EC9871CB33D5}"/>
              </a:ext>
            </a:extLst>
          </p:cNvPr>
          <p:cNvSpPr/>
          <p:nvPr/>
        </p:nvSpPr>
        <p:spPr>
          <a:xfrm>
            <a:off x="4404360" y="3794760"/>
            <a:ext cx="3291840" cy="594360"/>
          </a:xfrm>
          <a:prstGeom prst="rect">
            <a:avLst/>
          </a:prstGeom>
          <a:solidFill>
            <a:srgbClr val="0A1929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9E43EA0-89C1-158A-2EDD-61840030C70B}"/>
              </a:ext>
            </a:extLst>
          </p:cNvPr>
          <p:cNvSpPr/>
          <p:nvPr/>
        </p:nvSpPr>
        <p:spPr>
          <a:xfrm>
            <a:off x="4404360" y="37947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p_trans = k(t−1, j−1) · p(cⱼ | t)</a:t>
            </a:r>
            <a:endParaRPr lang="en-US" sz="11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8CC1ACF-021B-5777-14C8-0F499AEC0041}"/>
              </a:ext>
            </a:extLst>
          </p:cNvPr>
          <p:cNvSpPr/>
          <p:nvPr/>
        </p:nvSpPr>
        <p:spPr>
          <a:xfrm>
            <a:off x="4495800" y="4480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Pređi na sljedeći token — mreža je emitirala znak cⱼ</a:t>
            </a:r>
            <a:endParaRPr lang="en-US" sz="11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FA5E91AE-BEF0-B607-2F2D-6274690B58A9}"/>
              </a:ext>
            </a:extLst>
          </p:cNvPr>
          <p:cNvSpPr/>
          <p:nvPr/>
        </p:nvSpPr>
        <p:spPr>
          <a:xfrm>
            <a:off x="8016240" y="2834640"/>
            <a:ext cx="365760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6ABF76BF-9794-8A4D-067C-AF1AC6AFEBDD}"/>
              </a:ext>
            </a:extLst>
          </p:cNvPr>
          <p:cNvSpPr/>
          <p:nvPr/>
        </p:nvSpPr>
        <p:spPr>
          <a:xfrm>
            <a:off x="8016240" y="2834640"/>
            <a:ext cx="365760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D07FAA2B-2713-1E15-1DB7-B099EB724D24}"/>
              </a:ext>
            </a:extLst>
          </p:cNvPr>
          <p:cNvSpPr/>
          <p:nvPr/>
        </p:nvSpPr>
        <p:spPr>
          <a:xfrm>
            <a:off x="8336280" y="3127248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8F62C97B-A6C0-C77E-D886-F0A1DC02900C}"/>
              </a:ext>
            </a:extLst>
          </p:cNvPr>
          <p:cNvSpPr/>
          <p:nvPr/>
        </p:nvSpPr>
        <p:spPr>
          <a:xfrm>
            <a:off x="8336280" y="3127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1D3FDB90-5C85-1110-24CA-2F0D78842661}"/>
              </a:ext>
            </a:extLst>
          </p:cNvPr>
          <p:cNvSpPr/>
          <p:nvPr/>
        </p:nvSpPr>
        <p:spPr>
          <a:xfrm>
            <a:off x="9022080" y="3154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Maksimizacija</a:t>
            </a:r>
            <a:endParaRPr lang="en-US" sz="15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0D0F7A35-687F-8B9A-53EC-A092FA7CF7CC}"/>
              </a:ext>
            </a:extLst>
          </p:cNvPr>
          <p:cNvSpPr/>
          <p:nvPr/>
        </p:nvSpPr>
        <p:spPr>
          <a:xfrm>
            <a:off x="8199120" y="3794760"/>
            <a:ext cx="3291840" cy="594360"/>
          </a:xfrm>
          <a:prstGeom prst="rect">
            <a:avLst/>
          </a:prstGeom>
          <a:solidFill>
            <a:srgbClr val="0A1929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3756FA3C-ECCB-F620-7D63-8EE92C232C3F}"/>
              </a:ext>
            </a:extLst>
          </p:cNvPr>
          <p:cNvSpPr/>
          <p:nvPr/>
        </p:nvSpPr>
        <p:spPr>
          <a:xfrm>
            <a:off x="8199120" y="37947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k(t, j) = max(p_stay, p_trans)</a:t>
            </a:r>
            <a:endParaRPr lang="en-US" sz="11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D3D70CE9-92D2-7A4F-C5DF-6D7AF9B0CA4B}"/>
              </a:ext>
            </a:extLst>
          </p:cNvPr>
          <p:cNvSpPr/>
          <p:nvPr/>
        </p:nvSpPr>
        <p:spPr>
          <a:xfrm>
            <a:off x="8290560" y="4480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Odaberi vjerojatniji prijelaz u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svakoj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ćeliji</a:t>
            </a:r>
            <a:endParaRPr lang="en-US" sz="11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B51C501B-9263-40AD-3DA3-983766F1BAE9}"/>
              </a:ext>
            </a:extLst>
          </p:cNvPr>
          <p:cNvSpPr/>
          <p:nvPr/>
        </p:nvSpPr>
        <p:spPr>
          <a:xfrm>
            <a:off x="518160" y="5486400"/>
            <a:ext cx="5486400" cy="1005840"/>
          </a:xfrm>
          <a:prstGeom prst="rect">
            <a:avLst/>
          </a:prstGeom>
          <a:solidFill>
            <a:srgbClr val="0A1929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FEA9C212-73FA-2CCF-C338-6EB8CB77A8FC}"/>
              </a:ext>
            </a:extLst>
          </p:cNvPr>
          <p:cNvSpPr/>
          <p:nvPr/>
        </p:nvSpPr>
        <p:spPr>
          <a:xfrm>
            <a:off x="792480" y="55961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kern="0" spc="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BACKTRACKING</a:t>
            </a:r>
            <a:endParaRPr lang="en-US" sz="10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532FD9CD-B1DA-2657-10D8-12C4528DF3D1}"/>
              </a:ext>
            </a:extLst>
          </p:cNvPr>
          <p:cNvSpPr/>
          <p:nvPr/>
        </p:nvSpPr>
        <p:spPr>
          <a:xfrm>
            <a:off x="792480" y="58978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Polazeći od najvjerojatnije završne ćelije, rekonstruira se optimalna putanja unatrag → vremenske granice svake riječi.</a:t>
            </a:r>
            <a:endParaRPr lang="en-US" sz="11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1BCBEA7C-E399-840A-00C3-AE4E3EE6074A}"/>
              </a:ext>
            </a:extLst>
          </p:cNvPr>
          <p:cNvSpPr/>
          <p:nvPr/>
        </p:nvSpPr>
        <p:spPr>
          <a:xfrm>
            <a:off x="6187440" y="5486400"/>
            <a:ext cx="5394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FD0ED7CB-7860-A19F-8915-8F7D2945A5FD}"/>
              </a:ext>
            </a:extLst>
          </p:cNvPr>
          <p:cNvSpPr/>
          <p:nvPr/>
        </p:nvSpPr>
        <p:spPr>
          <a:xfrm>
            <a:off x="6187440" y="5486400"/>
            <a:ext cx="73152" cy="10058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42925906-97A9-E096-5AF1-C42D028C82ED}"/>
              </a:ext>
            </a:extLst>
          </p:cNvPr>
          <p:cNvSpPr/>
          <p:nvPr/>
        </p:nvSpPr>
        <p:spPr>
          <a:xfrm>
            <a:off x="6461760" y="55961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kern="0" spc="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DODATNE ZNAČAJKE</a:t>
            </a:r>
            <a:endParaRPr lang="en-US" sz="10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3F2B85A9-74A6-ED50-F783-368BC0E498A9}"/>
              </a:ext>
            </a:extLst>
          </p:cNvPr>
          <p:cNvSpPr/>
          <p:nvPr/>
        </p:nvSpPr>
        <p:spPr>
          <a:xfrm>
            <a:off x="6461760" y="58521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hr-HR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Automatsko p</a:t>
            </a:r>
            <a:r>
              <a:rPr lang="en-US" sz="11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reskakanje</a:t>
            </a: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nepovezanih segmenata (uvodna šutnja, glazba)
• </a:t>
            </a: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Confidence score 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 filtriranje loših poravnanja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18873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Kako CTC poravnanje radi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Trellis dijagram: traženje najvjerojatnije putanje kroz vrijeme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86400" cy="48463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864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7" name="Shape 5"/>
          <p:cNvSpPr/>
          <p:nvPr/>
        </p:nvSpPr>
        <p:spPr>
          <a:xfrm>
            <a:off x="868680" y="210312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8" name="Text 6"/>
          <p:cNvSpPr/>
          <p:nvPr/>
        </p:nvSpPr>
        <p:spPr>
          <a:xfrm>
            <a:off x="8686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207568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Forward propagation</a:t>
            </a:r>
            <a:endParaRPr lang="en-US" sz="1800" dirty="0"/>
          </a:p>
        </p:txBody>
      </p:sp>
      <p:pic>
        <p:nvPicPr>
          <p:cNvPr id="10" name="Image 0" descr="/home/claude/ctc_imgs/1_forw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2697480"/>
            <a:ext cx="4937760" cy="2606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" y="54406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svakom vremenskom koraku računaju se kumulativne vjerojatnosti kretanja kroz znakove transkripta. </a:t>
            </a:r>
            <a:r>
              <a:rPr lang="hr-HR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Tamniji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r-HR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čvorovi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imaju veću vjerojatnost.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355080" y="1783080"/>
            <a:ext cx="5257800" cy="48463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13" name="Shape 10"/>
          <p:cNvSpPr/>
          <p:nvPr/>
        </p:nvSpPr>
        <p:spPr>
          <a:xfrm>
            <a:off x="6355080" y="1783080"/>
            <a:ext cx="525780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4" name="Shape 11"/>
          <p:cNvSpPr/>
          <p:nvPr/>
        </p:nvSpPr>
        <p:spPr>
          <a:xfrm>
            <a:off x="6675120" y="210312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5" name="Text 12"/>
          <p:cNvSpPr/>
          <p:nvPr/>
        </p:nvSpPr>
        <p:spPr>
          <a:xfrm>
            <a:off x="66751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269480" y="207568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Backtracking</a:t>
            </a:r>
            <a:endParaRPr lang="en-US" sz="1800" dirty="0"/>
          </a:p>
        </p:txBody>
      </p:sp>
      <p:pic>
        <p:nvPicPr>
          <p:cNvPr id="17" name="Image 1" descr="/home/claude/ctc_imgs/2_backtracking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29400" y="2697480"/>
            <a:ext cx="4709160" cy="2606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629400" y="544068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Polazeći od najvjerojatnijeg završnog stanja, algoritam rekonstruira putanju unatrag → time se određuju granice svake riječi u vremenu.</a:t>
            </a:r>
            <a:endParaRPr lang="en-US" sz="1100" dirty="0"/>
          </a:p>
        </p:txBody>
      </p:sp>
      <p:sp>
        <p:nvSpPr>
          <p:cNvPr id="19" name="TekstniOkvir 18">
            <a:extLst>
              <a:ext uri="{FF2B5EF4-FFF2-40B4-BE49-F238E27FC236}">
                <a16:creationId xmlns:a16="http://schemas.microsoft.com/office/drawing/2014/main" id="{0CDD45A1-66F3-BC88-C9FE-56DB08C9F48C}"/>
              </a:ext>
            </a:extLst>
          </p:cNvPr>
          <p:cNvSpPr txBox="1"/>
          <p:nvPr/>
        </p:nvSpPr>
        <p:spPr>
          <a:xfrm>
            <a:off x="544908" y="6608323"/>
            <a:ext cx="81307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78909C"/>
                </a:solidFill>
                <a:ea typeface="QuattrocentoSans" pitchFamily="34" charset="-122"/>
                <a:cs typeface="QuattrocentoSans" pitchFamily="34" charset="-120"/>
              </a:rPr>
              <a:t>Izvor:</a:t>
            </a:r>
            <a:r>
              <a:rPr lang="hr-HR" sz="1000" dirty="0">
                <a:solidFill>
                  <a:srgbClr val="78909C"/>
                </a:solidFill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hr-HR" sz="1000" dirty="0" err="1">
                <a:solidFill>
                  <a:schemeClr val="accent3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hr-HR" sz="1000" dirty="0">
                <a:solidFill>
                  <a:schemeClr val="accent3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- </a:t>
            </a:r>
            <a:r>
              <a:rPr lang="hr-HR" sz="1000" dirty="0" err="1">
                <a:solidFill>
                  <a:schemeClr val="accent3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lumaku</a:t>
            </a:r>
            <a:r>
              <a:rPr lang="hr-HR" sz="1000" dirty="0">
                <a:solidFill>
                  <a:schemeClr val="accent3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hr-HR" sz="1000" dirty="0" err="1">
                <a:solidFill>
                  <a:schemeClr val="accent3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ctc-segmentation</a:t>
            </a:r>
            <a:r>
              <a:rPr lang="hr-HR" sz="1000" dirty="0">
                <a:solidFill>
                  <a:schemeClr val="accent3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Segment </a:t>
            </a:r>
            <a:r>
              <a:rPr lang="hr-HR" sz="1000" dirty="0" err="1">
                <a:solidFill>
                  <a:schemeClr val="accent3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</a:t>
            </a:r>
            <a:r>
              <a:rPr lang="hr-HR" sz="1000" dirty="0">
                <a:solidFill>
                  <a:schemeClr val="accent3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audio file </a:t>
            </a:r>
            <a:r>
              <a:rPr lang="hr-HR" sz="1000" dirty="0" err="1">
                <a:solidFill>
                  <a:schemeClr val="accent3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</a:t>
            </a:r>
            <a:r>
              <a:rPr lang="hr-HR" sz="1000" dirty="0">
                <a:solidFill>
                  <a:schemeClr val="accent3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hr-HR" sz="1000" dirty="0" err="1">
                <a:solidFill>
                  <a:schemeClr val="accent3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obtain</a:t>
            </a:r>
            <a:r>
              <a:rPr lang="hr-HR" sz="1000" dirty="0">
                <a:solidFill>
                  <a:schemeClr val="accent3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hr-HR" sz="1000" dirty="0" err="1">
                <a:solidFill>
                  <a:schemeClr val="accent3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utterance</a:t>
            </a:r>
            <a:r>
              <a:rPr lang="hr-HR" sz="1000" dirty="0">
                <a:solidFill>
                  <a:schemeClr val="accent3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hr-HR" sz="1000" dirty="0" err="1">
                <a:solidFill>
                  <a:schemeClr val="accent3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alignments</a:t>
            </a:r>
            <a:r>
              <a:rPr lang="hr-HR" sz="1000" dirty="0">
                <a:solidFill>
                  <a:schemeClr val="accent3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 (Python </a:t>
            </a:r>
            <a:r>
              <a:rPr lang="hr-HR" sz="1000" dirty="0" err="1">
                <a:solidFill>
                  <a:schemeClr val="accent3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package</a:t>
            </a:r>
            <a:r>
              <a:rPr lang="hr-HR" sz="1000" dirty="0">
                <a:solidFill>
                  <a:schemeClr val="accent3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 · </a:t>
            </a:r>
            <a:r>
              <a:rPr lang="hr-HR" sz="1000" dirty="0" err="1">
                <a:solidFill>
                  <a:schemeClr val="accent3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1000" dirty="0">
              <a:solidFill>
                <a:schemeClr val="accent3"/>
              </a:solidFill>
            </a:endParaRPr>
          </a:p>
        </p:txBody>
      </p:sp>
      <p:sp>
        <p:nvSpPr>
          <p:cNvPr id="20" name="TekstniOkvir 19">
            <a:extLst>
              <a:ext uri="{FF2B5EF4-FFF2-40B4-BE49-F238E27FC236}">
                <a16:creationId xmlns:a16="http://schemas.microsoft.com/office/drawing/2014/main" id="{921C409D-DAF7-BF0B-FAFD-CCB8DBBD66A2}"/>
              </a:ext>
            </a:extLst>
          </p:cNvPr>
          <p:cNvSpPr txBox="1"/>
          <p:nvPr/>
        </p:nvSpPr>
        <p:spPr>
          <a:xfrm>
            <a:off x="7791995" y="980078"/>
            <a:ext cx="333756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100" dirty="0"/>
              <a:t>Putanja: _ _ c </a:t>
            </a:r>
            <a:r>
              <a:rPr lang="hr-HR" sz="1100" dirty="0" err="1"/>
              <a:t>c</a:t>
            </a:r>
            <a:r>
              <a:rPr lang="hr-HR" sz="1100" dirty="0"/>
              <a:t> a t</a:t>
            </a:r>
          </a:p>
          <a:p>
            <a:r>
              <a:rPr lang="hr-HR" sz="1100" dirty="0"/>
              <a:t>Korak 1 (spoji uzastopne): _ c a t</a:t>
            </a:r>
          </a:p>
          <a:p>
            <a:r>
              <a:rPr lang="hr-HR" sz="1100" dirty="0"/>
              <a:t>Korak 2 (ukloni </a:t>
            </a:r>
            <a:r>
              <a:rPr lang="hr-HR" sz="1100" dirty="0" err="1"/>
              <a:t>blank</a:t>
            </a:r>
            <a:r>
              <a:rPr lang="hr-HR" sz="1100" dirty="0"/>
              <a:t>): c a t -&gt; </a:t>
            </a:r>
            <a:r>
              <a:rPr lang="hr-HR" sz="1100" dirty="0" err="1"/>
              <a:t>cat</a:t>
            </a:r>
            <a:endParaRPr lang="hr-HR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Korišteni alati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r-HR" sz="16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Prethodno trenirani</a:t>
            </a:r>
            <a:r>
              <a:rPr lang="en-US" sz="16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 za hrvatski jezik + algoritam poravnanja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24159"/>
            <a:ext cx="5486400" cy="4297680"/>
          </a:xfrm>
          <a:prstGeom prst="rect">
            <a:avLst/>
          </a:prstGeom>
          <a:solidFill>
            <a:srgbClr val="0A1929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2402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2402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554480" y="25146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wav2vec2-xls-r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parlaspeech-hr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868680" y="3703320"/>
            <a:ext cx="48463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0" name="Text 7"/>
          <p:cNvSpPr/>
          <p:nvPr/>
        </p:nvSpPr>
        <p:spPr>
          <a:xfrm>
            <a:off x="868680" y="38176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Razvio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377440" y="38176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CLASSLA (Ljubešić et al.)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8680" y="4206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Baza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377440" y="4211185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ParlaSpeech-HR (Hrvatski sabor)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68680" y="458823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Trajanje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377440" y="46405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sati transkribiranog govora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68680" y="501492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Arhitektura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377440" y="502061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+ Transformer encoder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68680" y="54363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Veličina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377440" y="5436015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300M parametara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355080" y="1920240"/>
            <a:ext cx="5257800" cy="429768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21" name="Shape 18"/>
          <p:cNvSpPr/>
          <p:nvPr/>
        </p:nvSpPr>
        <p:spPr>
          <a:xfrm>
            <a:off x="6355080" y="1920240"/>
            <a:ext cx="525780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286000"/>
            <a:ext cx="548640" cy="54864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360920" y="228600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ALGORITAM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7360920" y="256032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ctc-segmentation</a:t>
            </a:r>
            <a:endParaRPr lang="en-US" sz="2200" dirty="0"/>
          </a:p>
        </p:txBody>
      </p:sp>
      <p:sp>
        <p:nvSpPr>
          <p:cNvPr id="25" name="Text 21"/>
          <p:cNvSpPr/>
          <p:nvPr/>
        </p:nvSpPr>
        <p:spPr>
          <a:xfrm>
            <a:off x="6675120" y="324612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r-HR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</a:t>
            </a:r>
            <a:r>
              <a:rPr lang="hr-HR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biblioteka koja koristi log-vjerojatnosti CTC modela za poravnanje teksta s audiom (forced alignment).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675120" y="425196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27" name="Text 23"/>
          <p:cNvSpPr/>
          <p:nvPr/>
        </p:nvSpPr>
        <p:spPr>
          <a:xfrm>
            <a:off x="6675120" y="4251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7132320" y="420624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Pretvori transkript u matricu znakova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6675120" y="484632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30" name="Text 26"/>
          <p:cNvSpPr/>
          <p:nvPr/>
        </p:nvSpPr>
        <p:spPr>
          <a:xfrm>
            <a:off x="6675120" y="4846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7132320" y="480060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Pronađi najvjerojatniju putanju kroz log-probove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6675120" y="544068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33" name="Text 29"/>
          <p:cNvSpPr/>
          <p:nvPr/>
        </p:nvSpPr>
        <p:spPr>
          <a:xfrm>
            <a:off x="6675120" y="5440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7132320" y="539496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Odredi početke i krajeve svake riječi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6675120" y="580644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Lumaku et al., 2020 (arXiv:2007.09127)</a:t>
            </a:r>
            <a:endParaRPr lang="en-US" sz="900" dirty="0"/>
          </a:p>
        </p:txBody>
      </p:sp>
      <p:sp>
        <p:nvSpPr>
          <p:cNvPr id="36" name="Text 31">
            <a:extLst>
              <a:ext uri="{FF2B5EF4-FFF2-40B4-BE49-F238E27FC236}">
                <a16:creationId xmlns:a16="http://schemas.microsoft.com/office/drawing/2014/main" id="{0C7678BD-7E3F-41CA-39DD-CA94EE42073D}"/>
              </a:ext>
            </a:extLst>
          </p:cNvPr>
          <p:cNvSpPr/>
          <p:nvPr/>
        </p:nvSpPr>
        <p:spPr>
          <a:xfrm>
            <a:off x="868680" y="580644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i="1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Ljubešić et al., ParlaCLARIN 2022</a:t>
            </a:r>
            <a:endParaRPr lang="en-US" sz="9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r>
              <a:rPr lang="hr-HR" sz="2800" b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Baza podataka VEPRAD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Hrvatski korpus snimaka vremenske prognoze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2 393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108960" y="35890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snimaka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muški govornici (m01–m11)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42291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2 862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108960" y="4361595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snimaka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ženski govornici (z01–</a:t>
            </a:r>
            <a:r>
              <a:rPr lang="hr-HR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z14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5 257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108960" y="50063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transkripata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tekstualnom formatu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0" y="2011680"/>
            <a:ext cx="4297680" cy="4114800"/>
          </a:xfrm>
          <a:prstGeom prst="rect">
            <a:avLst/>
          </a:prstGeom>
          <a:solidFill>
            <a:srgbClr val="0A1929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2" name="Text 10"/>
          <p:cNvSpPr/>
          <p:nvPr/>
        </p:nvSpPr>
        <p:spPr>
          <a:xfrm>
            <a:off x="758952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Primjer transkripta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589520" y="2560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m01020105401.txt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89520" y="3017520"/>
            <a:ext cx="374904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5" name="Text 13"/>
          <p:cNvSpPr/>
          <p:nvPr/>
        </p:nvSpPr>
        <p:spPr>
          <a:xfrm>
            <a:off x="758952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589520" y="33832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biometeorolo{ka prognoza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 sutra &lt;sil&gt; uvjeti ^e biti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razmjerno povoljni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89520" y="4480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NORMALIZIRANO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589520" y="47548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biometeorološka prognoza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 sutra uvjeti će biti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razmjerno povoljni</a:t>
            </a:r>
            <a:endParaRPr lang="en-US" sz="1200" dirty="0"/>
          </a:p>
        </p:txBody>
      </p:sp>
      <p:sp>
        <p:nvSpPr>
          <p:cNvPr id="19" name="TekstniOkvir 18">
            <a:extLst>
              <a:ext uri="{FF2B5EF4-FFF2-40B4-BE49-F238E27FC236}">
                <a16:creationId xmlns:a16="http://schemas.microsoft.com/office/drawing/2014/main" id="{5702C0B4-15D0-1CCA-169B-FF3E183E8BEE}"/>
              </a:ext>
            </a:extLst>
          </p:cNvPr>
          <p:cNvSpPr txBox="1"/>
          <p:nvPr/>
        </p:nvSpPr>
        <p:spPr>
          <a:xfrm>
            <a:off x="944880" y="2225501"/>
            <a:ext cx="5411755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Uzorkovana na 16 </a:t>
            </a:r>
            <a:r>
              <a:rPr kumimoji="0" lang="hr-HR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kHz</a:t>
            </a:r>
            <a:endParaRPr kumimoji="0" lang="hr-HR" sz="1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Pohranjena u 16-bitnom PCM formatu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r-HR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644 prognoze | 18 sati i 28 minuta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r>
              <a:rPr lang="hr-HR" sz="2800" b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 obrade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WAV datoteke do vremenski poravnatih riječi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6" name="Shape 4"/>
          <p:cNvSpPr/>
          <p:nvPr/>
        </p:nvSpPr>
        <p:spPr>
          <a:xfrm>
            <a:off x="777240" y="210312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Učitavanje audio signala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23317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soundfile učita WAV; ako je stereo → mono; ako sr ≠ 16 kHz → librosa.resample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110642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11" name="Shape 9"/>
          <p:cNvSpPr/>
          <p:nvPr/>
        </p:nvSpPr>
        <p:spPr>
          <a:xfrm>
            <a:off x="777240" y="301752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2" name="Text 10"/>
          <p:cNvSpPr/>
          <p:nvPr/>
        </p:nvSpPr>
        <p:spPr>
          <a:xfrm>
            <a:off x="7772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Normalizacija transkripta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32461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Zamjena starog ASCII kodiranja (`{` → š, `^e` → će, …) i čišćenje oznaka &lt;sil&gt;, &lt;uzdah&gt;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110642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16" name="Shape 14"/>
          <p:cNvSpPr/>
          <p:nvPr/>
        </p:nvSpPr>
        <p:spPr>
          <a:xfrm>
            <a:off x="777240" y="393192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7" name="Text 15"/>
          <p:cNvSpPr/>
          <p:nvPr/>
        </p:nvSpPr>
        <p:spPr>
          <a:xfrm>
            <a:off x="7772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Inferencija wav2vec2 modela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41605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proizvodi log_softmax matricu T × 50 (vjerojatnosti za svaki znak u svakom frameu od 20 ms)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110642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21" name="Shape 19"/>
          <p:cNvSpPr/>
          <p:nvPr/>
        </p:nvSpPr>
        <p:spPr>
          <a:xfrm>
            <a:off x="777240" y="484632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22" name="Text 20"/>
          <p:cNvSpPr/>
          <p:nvPr/>
        </p:nvSpPr>
        <p:spPr>
          <a:xfrm>
            <a:off x="77724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Forced alignment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17320" y="50749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ctc_segmentation.prepare_text → ctc_segmentation → determine_utterance_segments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577840"/>
            <a:ext cx="110642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26" name="Shape 24"/>
          <p:cNvSpPr/>
          <p:nvPr/>
        </p:nvSpPr>
        <p:spPr>
          <a:xfrm>
            <a:off x="777240" y="576072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27" name="Text 25"/>
          <p:cNvSpPr/>
          <p:nvPr/>
        </p:nvSpPr>
        <p:spPr>
          <a:xfrm>
            <a:off x="777240" y="5760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17320" y="5669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Pohrana rezultata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417320" y="59893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 parovima (riječ, start, end,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pouzdanost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Rezultati — primjer snimke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52020" y="11534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m01020105401.wav  ·  govornik m01  ·  </a:t>
            </a:r>
            <a:r>
              <a:rPr lang="en-US" sz="1300" dirty="0" err="1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trajanje</a:t>
            </a:r>
            <a:r>
              <a:rPr lang="en-US" sz="13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4.62</a:t>
            </a:r>
            <a:r>
              <a:rPr lang="hr-HR" sz="13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3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40729" y="1702837"/>
            <a:ext cx="5749523" cy="548640"/>
          </a:xfrm>
          <a:prstGeom prst="rect">
            <a:avLst/>
          </a:prstGeom>
          <a:solidFill>
            <a:srgbClr val="0A1929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6" name="Text 4"/>
          <p:cNvSpPr/>
          <p:nvPr/>
        </p:nvSpPr>
        <p:spPr>
          <a:xfrm>
            <a:off x="337766" y="1702837"/>
            <a:ext cx="555544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r-HR" sz="1400" i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„</a:t>
            </a:r>
            <a:r>
              <a:rPr lang="en-US" sz="1400" i="1" dirty="0" err="1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biometeorološka</a:t>
            </a:r>
            <a:r>
              <a:rPr lang="en-US" sz="1400" i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prognoza za sutra uvjeti će biti razmjerno povoljni”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8503819"/>
              </p:ext>
            </p:extLst>
          </p:nvPr>
        </p:nvGraphicFramePr>
        <p:xfrm>
          <a:off x="660605" y="2420361"/>
          <a:ext cx="4909768" cy="3567096"/>
        </p:xfrm>
        <a:graphic>
          <a:graphicData uri="http://schemas.openxmlformats.org/drawingml/2006/table">
            <a:tbl>
              <a:tblPr/>
              <a:tblGrid>
                <a:gridCol w="1539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4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2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94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RIJEČ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START (s)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KRAJ (s)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TRAJANJE (s)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POUZDANOST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biometeorološka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prognoza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za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sutra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uvjeti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4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će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4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biti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4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razmjerno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4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povoljni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Shape 3">
            <a:extLst>
              <a:ext uri="{FF2B5EF4-FFF2-40B4-BE49-F238E27FC236}">
                <a16:creationId xmlns:a16="http://schemas.microsoft.com/office/drawing/2014/main" id="{ED9B86FF-2A07-551A-1B0D-9F2567AF6D8C}"/>
              </a:ext>
            </a:extLst>
          </p:cNvPr>
          <p:cNvSpPr/>
          <p:nvPr/>
        </p:nvSpPr>
        <p:spPr>
          <a:xfrm>
            <a:off x="6201750" y="1702837"/>
            <a:ext cx="5749523" cy="548640"/>
          </a:xfrm>
          <a:prstGeom prst="rect">
            <a:avLst/>
          </a:prstGeom>
          <a:solidFill>
            <a:srgbClr val="0A1929"/>
          </a:solidFill>
          <a:ln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EBBB78D2-A10B-96BF-50B6-7AD21B874B2F}"/>
              </a:ext>
            </a:extLst>
          </p:cNvPr>
          <p:cNvSpPr/>
          <p:nvPr/>
        </p:nvSpPr>
        <p:spPr>
          <a:xfrm>
            <a:off x="6298787" y="1702837"/>
            <a:ext cx="555544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r-HR" sz="1400" i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„</a:t>
            </a:r>
            <a:r>
              <a:rPr lang="en-US" sz="1400" i="1" dirty="0" err="1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najviša</a:t>
            </a:r>
            <a:r>
              <a:rPr lang="en-US" sz="1400" i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i="1" dirty="0" err="1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temperatura</a:t>
            </a:r>
            <a:r>
              <a:rPr lang="en-US" sz="1400" i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od </a:t>
            </a:r>
            <a:r>
              <a:rPr lang="en-US" sz="1400" i="1" dirty="0" err="1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petnaest</a:t>
            </a:r>
            <a:r>
              <a:rPr lang="en-US" sz="1400" i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do </a:t>
            </a:r>
            <a:r>
              <a:rPr lang="en-US" sz="1400" i="1" dirty="0" err="1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dvadeset</a:t>
            </a:r>
            <a:r>
              <a:rPr lang="en-US" sz="1400" i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i="1" dirty="0" err="1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stupnjeva</a:t>
            </a:r>
            <a:r>
              <a:rPr lang="hr-HR" sz="1400" i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”</a:t>
            </a:r>
            <a:endParaRPr lang="en-US" sz="1400" dirty="0"/>
          </a:p>
        </p:txBody>
      </p:sp>
      <p:graphicFrame>
        <p:nvGraphicFramePr>
          <p:cNvPr id="13" name="Table 0">
            <a:extLst>
              <a:ext uri="{FF2B5EF4-FFF2-40B4-BE49-F238E27FC236}">
                <a16:creationId xmlns:a16="http://schemas.microsoft.com/office/drawing/2014/main" id="{31DBE568-B9B0-AC63-3D0E-3052BA929F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5421005"/>
              </p:ext>
            </p:extLst>
          </p:nvPr>
        </p:nvGraphicFramePr>
        <p:xfrm>
          <a:off x="6834562" y="2764544"/>
          <a:ext cx="4412558" cy="2878730"/>
        </p:xfrm>
        <a:graphic>
          <a:graphicData uri="http://schemas.openxmlformats.org/drawingml/2006/table">
            <a:tbl>
              <a:tblPr/>
              <a:tblGrid>
                <a:gridCol w="1118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9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79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94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RIJEČ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START (s)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KRAJ (s)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TRAJANJE (s)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POUZDANOST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hr-HR" sz="1100" b="1" dirty="0">
                          <a:solidFill>
                            <a:srgbClr val="0F17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najviša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hr-HR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hr-HR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hr-HR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</a:t>
                      </a:r>
                      <a:r>
                        <a:rPr lang="hr-HR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hr-HR" sz="1100" b="1" dirty="0">
                          <a:solidFill>
                            <a:srgbClr val="0F17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temperatura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hr-HR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hr-HR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r>
                        <a:rPr lang="hr-HR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</a:t>
                      </a:r>
                      <a:r>
                        <a:rPr lang="hr-HR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hr-HR" sz="1100" b="1" dirty="0">
                          <a:solidFill>
                            <a:srgbClr val="0F17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od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hr-HR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hr-HR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</a:t>
                      </a:r>
                      <a:r>
                        <a:rPr lang="hr-HR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r>
                        <a:rPr lang="hr-HR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</a:t>
                      </a:r>
                      <a:endParaRPr lang="en-US" sz="1100" dirty="0">
                        <a:solidFill>
                          <a:srgbClr val="0D9488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hr-HR" sz="1100" b="1" dirty="0">
                          <a:solidFill>
                            <a:srgbClr val="0F17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petnaest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hr-HR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hr-HR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</a:t>
                      </a:r>
                      <a:r>
                        <a:rPr lang="hr-HR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r>
                        <a:rPr lang="hr-HR" sz="11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2.73</a:t>
                      </a:r>
                      <a:endParaRPr lang="en-US" sz="11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hr-HR" sz="1100" b="1" dirty="0">
                          <a:solidFill>
                            <a:srgbClr val="0F17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do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hr-HR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hr-HR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</a:t>
                      </a:r>
                      <a:r>
                        <a:rPr lang="hr-HR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r>
                        <a:rPr lang="hr-HR" sz="11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3.31</a:t>
                      </a:r>
                      <a:endParaRPr lang="en-US" sz="11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4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hr-HR" sz="1100" b="1" dirty="0">
                          <a:solidFill>
                            <a:srgbClr val="0F17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dvadeset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hr-HR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hr-HR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</a:t>
                      </a:r>
                      <a:r>
                        <a:rPr lang="hr-HR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r>
                        <a:rPr lang="hr-HR" sz="11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2.75</a:t>
                      </a:r>
                      <a:endParaRPr lang="en-US" sz="11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41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hr-HR" sz="1100" b="1" dirty="0">
                          <a:solidFill>
                            <a:srgbClr val="0F17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stupnjeva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hr-HR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hr-HR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</a:t>
                      </a:r>
                      <a:r>
                        <a:rPr lang="hr-HR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r>
                        <a:rPr lang="hr-HR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100" dirty="0">
                        <a:solidFill>
                          <a:srgbClr val="0D9488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" name="Text 2">
            <a:extLst>
              <a:ext uri="{FF2B5EF4-FFF2-40B4-BE49-F238E27FC236}">
                <a16:creationId xmlns:a16="http://schemas.microsoft.com/office/drawing/2014/main" id="{2F1EB28C-62EB-7296-A274-2E52675991E4}"/>
              </a:ext>
            </a:extLst>
          </p:cNvPr>
          <p:cNvSpPr/>
          <p:nvPr/>
        </p:nvSpPr>
        <p:spPr>
          <a:xfrm>
            <a:off x="6621629" y="11534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z01030402104.wav  ·  </a:t>
            </a:r>
            <a:r>
              <a:rPr lang="en-US" sz="1300" dirty="0" err="1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govornik</a:t>
            </a:r>
            <a:r>
              <a:rPr lang="en-US" sz="13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hr-HR" sz="13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</a:t>
            </a:r>
            <a:r>
              <a:rPr lang="en-US" sz="13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·  </a:t>
            </a:r>
            <a:r>
              <a:rPr lang="en-US" sz="1300" dirty="0" err="1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trajanje</a:t>
            </a:r>
            <a:r>
              <a:rPr lang="en-US" sz="13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hr-HR" sz="13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4.089</a:t>
            </a:r>
            <a:r>
              <a:rPr lang="en-US" sz="13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Vizualizacija segmentacije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Vremenske granice riječi prikazane preko valnog oblika audiozapisa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416052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7" name="Shape 4"/>
          <p:cNvSpPr/>
          <p:nvPr/>
        </p:nvSpPr>
        <p:spPr>
          <a:xfrm>
            <a:off x="548640" y="5760720"/>
            <a:ext cx="11064240" cy="822960"/>
          </a:xfrm>
          <a:prstGeom prst="rect">
            <a:avLst/>
          </a:prstGeom>
          <a:solidFill>
            <a:srgbClr val="0A1929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8" name="Text 5"/>
          <p:cNvSpPr/>
          <p:nvPr/>
        </p:nvSpPr>
        <p:spPr>
          <a:xfrm>
            <a:off x="777240" y="5806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Zapažanje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77240" y="60807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Granice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precizno prate energetske obrise govornog signala.</a:t>
            </a:r>
            <a:endParaRPr lang="en-US" sz="1100" dirty="0"/>
          </a:p>
        </p:txBody>
      </p:sp>
      <p:pic>
        <p:nvPicPr>
          <p:cNvPr id="11" name="Slika 10">
            <a:extLst>
              <a:ext uri="{FF2B5EF4-FFF2-40B4-BE49-F238E27FC236}">
                <a16:creationId xmlns:a16="http://schemas.microsoft.com/office/drawing/2014/main" id="{9987F8FA-855E-40A6-D9DE-3F1C8CEB3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6122" y="1417320"/>
            <a:ext cx="7360297" cy="2066606"/>
          </a:xfrm>
          <a:prstGeom prst="rect">
            <a:avLst/>
          </a:prstGeom>
        </p:spPr>
      </p:pic>
      <p:pic>
        <p:nvPicPr>
          <p:cNvPr id="13" name="Slika 12">
            <a:extLst>
              <a:ext uri="{FF2B5EF4-FFF2-40B4-BE49-F238E27FC236}">
                <a16:creationId xmlns:a16="http://schemas.microsoft.com/office/drawing/2014/main" id="{CAF9BC21-7509-B1F0-1546-972B2DEE25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6123" y="3511234"/>
            <a:ext cx="7360297" cy="206660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41488B3-56BB-829D-0137-6AFB06EF94AD}"/>
              </a:ext>
            </a:extLst>
          </p:cNvPr>
          <p:cNvSpPr/>
          <p:nvPr/>
        </p:nvSpPr>
        <p:spPr>
          <a:xfrm>
            <a:off x="1124712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r>
              <a:rPr lang="hr-HR" sz="2800" b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5FB85FB-453E-899F-20E8-48A7595BBE28}"/>
              </a:ext>
            </a:extLst>
          </p:cNvPr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Analiza cijele baze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AAEEBA5-3C75-1A3F-55B1-23E83A7E3FB0}"/>
              </a:ext>
            </a:extLst>
          </p:cNvPr>
          <p:cNvSpPr/>
          <p:nvPr/>
        </p:nvSpPr>
        <p:spPr>
          <a:xfrm>
            <a:off x="548640" y="1097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Pokrivanje i kvaliteta segmentacije na svim snimkama VEPRAD-a</a:t>
            </a:r>
            <a:endParaRPr lang="en-US" sz="1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DC441C5-3474-A871-55F2-B8716B6595D2}"/>
              </a:ext>
            </a:extLst>
          </p:cNvPr>
          <p:cNvSpPr/>
          <p:nvPr/>
        </p:nvSpPr>
        <p:spPr>
          <a:xfrm>
            <a:off x="457200" y="192024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12A0219-4CEB-A73D-E963-07B86A3CC03B}"/>
              </a:ext>
            </a:extLst>
          </p:cNvPr>
          <p:cNvSpPr/>
          <p:nvPr/>
        </p:nvSpPr>
        <p:spPr>
          <a:xfrm>
            <a:off x="457200" y="21031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5 255</a:t>
            </a:r>
            <a:endParaRPr lang="en-US" sz="4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03666E6-3232-9815-D7D6-2B85F6985D27}"/>
              </a:ext>
            </a:extLst>
          </p:cNvPr>
          <p:cNvSpPr/>
          <p:nvPr/>
        </p:nvSpPr>
        <p:spPr>
          <a:xfrm>
            <a:off x="731520" y="2926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uspješno obrađenih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snimaka  ·  99.96%</a:t>
            </a:r>
            <a:endParaRPr lang="en-US" sz="12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D13C475-378D-667F-A72D-9A1CEF77682C}"/>
              </a:ext>
            </a:extLst>
          </p:cNvPr>
          <p:cNvSpPr/>
          <p:nvPr/>
        </p:nvSpPr>
        <p:spPr>
          <a:xfrm>
            <a:off x="4251960" y="192024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955A7F6-BE96-BAE1-A377-ED0E7F741240}"/>
              </a:ext>
            </a:extLst>
          </p:cNvPr>
          <p:cNvSpPr/>
          <p:nvPr/>
        </p:nvSpPr>
        <p:spPr>
          <a:xfrm>
            <a:off x="4251960" y="21031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71 118</a:t>
            </a:r>
            <a:endParaRPr lang="en-US" sz="48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8E7C229-DBC5-A475-A475-AC5B327F9EC0}"/>
              </a:ext>
            </a:extLst>
          </p:cNvPr>
          <p:cNvSpPr/>
          <p:nvPr/>
        </p:nvSpPr>
        <p:spPr>
          <a:xfrm>
            <a:off x="4526280" y="2926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segmentiranih riječi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cijeloj bazi</a:t>
            </a:r>
            <a:endParaRPr lang="en-US" sz="12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EC95351-32C9-A662-DF78-B65F3DA8B6B9}"/>
              </a:ext>
            </a:extLst>
          </p:cNvPr>
          <p:cNvSpPr/>
          <p:nvPr/>
        </p:nvSpPr>
        <p:spPr>
          <a:xfrm>
            <a:off x="8046720" y="192024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415FB69-A02A-3DB7-8634-1F9DB27030F7}"/>
              </a:ext>
            </a:extLst>
          </p:cNvPr>
          <p:cNvSpPr/>
          <p:nvPr/>
        </p:nvSpPr>
        <p:spPr>
          <a:xfrm>
            <a:off x="8046720" y="21031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−1.23</a:t>
            </a:r>
            <a:endParaRPr lang="en-US" sz="48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CA79A0B-7E27-594F-EED7-6E89D9EB03AA}"/>
              </a:ext>
            </a:extLst>
          </p:cNvPr>
          <p:cNvSpPr/>
          <p:nvPr/>
        </p:nvSpPr>
        <p:spPr>
          <a:xfrm>
            <a:off x="8321040" y="2926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srednja log-pouzdanost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razini baze</a:t>
            </a:r>
            <a:endParaRPr lang="en-US" sz="1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4C8FD2D-A075-DBE8-A500-0B3E75042110}"/>
              </a:ext>
            </a:extLst>
          </p:cNvPr>
          <p:cNvSpPr/>
          <p:nvPr/>
        </p:nvSpPr>
        <p:spPr>
          <a:xfrm>
            <a:off x="548640" y="35890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Distribucija pouzdanosti segmentiranih riječi</a:t>
            </a:r>
            <a:endParaRPr lang="en-US" sz="1400" dirty="0"/>
          </a:p>
        </p:txBody>
      </p:sp>
      <p:graphicFrame>
        <p:nvGraphicFramePr>
          <p:cNvPr id="15" name="Chart 0">
            <a:extLst>
              <a:ext uri="{FF2B5EF4-FFF2-40B4-BE49-F238E27FC236}">
                <a16:creationId xmlns:a16="http://schemas.microsoft.com/office/drawing/2014/main" id="{EB28A8D0-E380-3B16-5313-C6221E3D9B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0561191"/>
              </p:ext>
            </p:extLst>
          </p:nvPr>
        </p:nvGraphicFramePr>
        <p:xfrm>
          <a:off x="731520" y="3950208"/>
          <a:ext cx="411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6" name="Shape 13">
            <a:extLst>
              <a:ext uri="{FF2B5EF4-FFF2-40B4-BE49-F238E27FC236}">
                <a16:creationId xmlns:a16="http://schemas.microsoft.com/office/drawing/2014/main" id="{F19CEAED-19E2-B61B-FE64-1E0AE15B0183}"/>
              </a:ext>
            </a:extLst>
          </p:cNvPr>
          <p:cNvSpPr/>
          <p:nvPr/>
        </p:nvSpPr>
        <p:spPr>
          <a:xfrm>
            <a:off x="5943600" y="4114800"/>
            <a:ext cx="91440" cy="5943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15B2F16D-B00B-6E90-2527-614E5ED7A3B5}"/>
              </a:ext>
            </a:extLst>
          </p:cNvPr>
          <p:cNvSpPr/>
          <p:nvPr/>
        </p:nvSpPr>
        <p:spPr>
          <a:xfrm>
            <a:off x="617220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Visoka pouzdanost</a:t>
            </a:r>
            <a:endParaRPr lang="en-US" sz="14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EECE9806-C405-2F7A-7F78-1140F0AA88E5}"/>
              </a:ext>
            </a:extLst>
          </p:cNvPr>
          <p:cNvSpPr/>
          <p:nvPr/>
        </p:nvSpPr>
        <p:spPr>
          <a:xfrm>
            <a:off x="9144000" y="4069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43 617  ·  61.3%</a:t>
            </a:r>
            <a:endParaRPr lang="en-US" sz="12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3D8FF3C6-9F34-E3CD-F1A4-6700040CDDE7}"/>
              </a:ext>
            </a:extLst>
          </p:cNvPr>
          <p:cNvSpPr/>
          <p:nvPr/>
        </p:nvSpPr>
        <p:spPr>
          <a:xfrm>
            <a:off x="6172200" y="440740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 &gt; −1.0  ·  pouzdano poravnanje</a:t>
            </a:r>
            <a:endParaRPr lang="en-US" sz="1100" dirty="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11FCDB86-CCD8-87C4-F367-A20F1B06B50A}"/>
              </a:ext>
            </a:extLst>
          </p:cNvPr>
          <p:cNvSpPr/>
          <p:nvPr/>
        </p:nvSpPr>
        <p:spPr>
          <a:xfrm>
            <a:off x="5943600" y="4892040"/>
            <a:ext cx="91440" cy="5943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00815672-9107-01E1-9D3C-207DDC7031CD}"/>
              </a:ext>
            </a:extLst>
          </p:cNvPr>
          <p:cNvSpPr/>
          <p:nvPr/>
        </p:nvSpPr>
        <p:spPr>
          <a:xfrm>
            <a:off x="6172200" y="4846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Srednja pouzdanost</a:t>
            </a:r>
            <a:endParaRPr lang="en-US" sz="140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8822BA5D-741A-A8A5-2933-75C2AF9246E4}"/>
              </a:ext>
            </a:extLst>
          </p:cNvPr>
          <p:cNvSpPr/>
          <p:nvPr/>
        </p:nvSpPr>
        <p:spPr>
          <a:xfrm>
            <a:off x="9144000" y="4846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14 169  ·  19.9%</a:t>
            </a:r>
            <a:endParaRPr lang="en-US" sz="12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F637C8D5-5A79-6688-343A-D41292EB6921}"/>
              </a:ext>
            </a:extLst>
          </p:cNvPr>
          <p:cNvSpPr/>
          <p:nvPr/>
        </p:nvSpPr>
        <p:spPr>
          <a:xfrm>
            <a:off x="6172200" y="51846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−2.0 ≤ conf ≤ −1.0  ·  zadovoljavajuće</a:t>
            </a:r>
            <a:endParaRPr lang="en-US" sz="1100" dirty="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4AAA8B10-AC4F-56AF-1B07-1704000D62D3}"/>
              </a:ext>
            </a:extLst>
          </p:cNvPr>
          <p:cNvSpPr/>
          <p:nvPr/>
        </p:nvSpPr>
        <p:spPr>
          <a:xfrm>
            <a:off x="5943600" y="5669280"/>
            <a:ext cx="91440" cy="5943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C66C0E5A-D5EB-2AF1-3D15-F73FDCAF2B80}"/>
              </a:ext>
            </a:extLst>
          </p:cNvPr>
          <p:cNvSpPr/>
          <p:nvPr/>
        </p:nvSpPr>
        <p:spPr>
          <a:xfrm>
            <a:off x="6172200" y="5623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Niska pouzdanost</a:t>
            </a:r>
            <a:endParaRPr lang="en-US" sz="140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D73C310A-0930-7775-4D94-7A29D406313A}"/>
              </a:ext>
            </a:extLst>
          </p:cNvPr>
          <p:cNvSpPr/>
          <p:nvPr/>
        </p:nvSpPr>
        <p:spPr>
          <a:xfrm>
            <a:off x="9144000" y="5623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13 332  ·  18.7%</a:t>
            </a:r>
            <a:endParaRPr lang="en-US" sz="1200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89A7F54E-352D-4EE7-1107-CC227AE745BA}"/>
              </a:ext>
            </a:extLst>
          </p:cNvPr>
          <p:cNvSpPr/>
          <p:nvPr/>
        </p:nvSpPr>
        <p:spPr>
          <a:xfrm>
            <a:off x="6172200" y="59618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 &lt; −2.0  ·  uglavnom kratke riječi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170095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45720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ZAKLJUČAK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Postupak CTC segmentacije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uspješno radi na VEPRAD bazi</a:t>
            </a:r>
            <a:endParaRPr lang="en-US" sz="3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776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3840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Točno poravnanje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188720" y="42519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Granice riječi su precizno detektirane unutar očekivanog raspona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89204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4754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Visoka pouzdanost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188720" y="51663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Većina segmenata postiže log-pouzdanost iznad −1.0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80644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5669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Skalabilna metoda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1188720" y="60807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je primjenjiv na cijelu bazu od 5 257 snimaka bez ručnog rada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27E1347-5D6A-0842-50A1-C50554EA18CD}"/>
              </a:ext>
            </a:extLst>
          </p:cNvPr>
          <p:cNvSpPr/>
          <p:nvPr/>
        </p:nvSpPr>
        <p:spPr>
          <a:xfrm flipV="1">
            <a:off x="3726543" y="-1933577"/>
            <a:ext cx="10395856" cy="45719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hr-HR">
              <a:latin typeface="+mj-lt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BAB41F8-33F7-E2E6-E42E-C0607CF85EA6}"/>
              </a:ext>
            </a:extLst>
          </p:cNvPr>
          <p:cNvSpPr/>
          <p:nvPr/>
        </p:nvSpPr>
        <p:spPr>
          <a:xfrm>
            <a:off x="476249" y="303227"/>
            <a:ext cx="6497410" cy="224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55A64"/>
                </a:solidFill>
                <a:latin typeface="+mj-lt"/>
                <a:ea typeface="QuattrocentoSans" pitchFamily="34" charset="-122"/>
                <a:cs typeface="QuattrocentoSans" pitchFamily="34" charset="-120"/>
              </a:rPr>
              <a:t>Literatura</a:t>
            </a:r>
            <a:endParaRPr lang="en-US" sz="2800" dirty="0">
              <a:latin typeface="+mj-lt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52934A3-DFF9-BE20-2D54-E55E8D57C99A}"/>
              </a:ext>
            </a:extLst>
          </p:cNvPr>
          <p:cNvSpPr/>
          <p:nvPr/>
        </p:nvSpPr>
        <p:spPr>
          <a:xfrm flipV="1">
            <a:off x="476249" y="698559"/>
            <a:ext cx="9096374" cy="45719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hr-HR">
              <a:latin typeface="+mj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8D7256A-4926-C3E7-D3DF-4101A9F25678}"/>
              </a:ext>
            </a:extLst>
          </p:cNvPr>
          <p:cNvSpPr/>
          <p:nvPr/>
        </p:nvSpPr>
        <p:spPr>
          <a:xfrm>
            <a:off x="476249" y="1983337"/>
            <a:ext cx="11249025" cy="3265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500" b="1" dirty="0">
                <a:solidFill>
                  <a:srgbClr val="37474F"/>
                </a:solidFill>
                <a:latin typeface="+mj-lt"/>
                <a:ea typeface="Quattrocento Sans" pitchFamily="34" charset="-122"/>
                <a:cs typeface="Quattrocento Sans" pitchFamily="34" charset="-120"/>
              </a:rPr>
              <a:t>[1]</a:t>
            </a:r>
            <a:r>
              <a:rPr lang="en-US" sz="1500" dirty="0">
                <a:solidFill>
                  <a:srgbClr val="37474F"/>
                </a:solidFill>
                <a:latin typeface="+mj-lt"/>
                <a:ea typeface="Quattrocento Sans" pitchFamily="34" charset="-122"/>
                <a:cs typeface="Quattrocento Sans" pitchFamily="34" charset="-120"/>
              </a:rPr>
              <a:t> Kürzinger L., Winkelbauer D., Li L., Watzel T., Rigoll G., "CTC-Segmentation of Large Corpora for German End-to-end Speech Recognition," </a:t>
            </a:r>
            <a:r>
              <a:rPr lang="en-US" sz="1500" i="1" dirty="0">
                <a:solidFill>
                  <a:srgbClr val="37474F"/>
                </a:solidFill>
                <a:latin typeface="+mj-lt"/>
                <a:ea typeface="Quattrocento Sans" pitchFamily="34" charset="-122"/>
                <a:cs typeface="Quattrocento Sans" pitchFamily="34" charset="-120"/>
              </a:rPr>
              <a:t>Speech and Computer (SPECOM)</a:t>
            </a:r>
            <a:r>
              <a:rPr lang="en-US" sz="1500" dirty="0">
                <a:solidFill>
                  <a:srgbClr val="37474F"/>
                </a:solidFill>
                <a:latin typeface="+mj-lt"/>
                <a:ea typeface="Quattrocento Sans" pitchFamily="34" charset="-122"/>
                <a:cs typeface="Quattrocento Sans" pitchFamily="34" charset="-120"/>
              </a:rPr>
              <a:t>, 2020. </a:t>
            </a:r>
            <a:r>
              <a:rPr lang="en-US" sz="1500" u="sng" dirty="0">
                <a:solidFill>
                  <a:srgbClr val="37474F"/>
                </a:solidFill>
                <a:latin typeface="+mj-lt"/>
                <a:ea typeface="Quattrocento Sans" pitchFamily="34" charset="-122"/>
                <a:cs typeface="Quattrocento Sans" pitchFamily="34" charset="-120"/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arXiv:2007.09127</a:t>
            </a:r>
            <a:endParaRPr lang="en-US" sz="1600" dirty="0">
              <a:latin typeface="+mj-lt"/>
            </a:endParaRPr>
          </a:p>
          <a:p>
            <a:pPr>
              <a:lnSpc>
                <a:spcPct val="18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37474F"/>
                </a:solidFill>
                <a:latin typeface="+mj-lt"/>
                <a:ea typeface="Quattrocento Sans" pitchFamily="34" charset="-122"/>
                <a:cs typeface="Quattrocento Sans" pitchFamily="34" charset="-120"/>
              </a:rPr>
              <a:t>[2]</a:t>
            </a:r>
            <a:r>
              <a:rPr lang="en-US" sz="1500" dirty="0">
                <a:solidFill>
                  <a:srgbClr val="37474F"/>
                </a:solidFill>
                <a:latin typeface="+mj-lt"/>
                <a:ea typeface="Quattrocento Sans" pitchFamily="34" charset="-122"/>
                <a:cs typeface="Quattrocento Sans" pitchFamily="34" charset="-120"/>
              </a:rPr>
              <a:t> Graves A., Fernández S., Gomez F., Schmidhuber J., "Connectionist Temporal Classification: Labelling Unsegmented Sequence Data with Recurrent Neural Networks," </a:t>
            </a:r>
            <a:r>
              <a:rPr lang="en-US" sz="1500" i="1" dirty="0">
                <a:solidFill>
                  <a:srgbClr val="37474F"/>
                </a:solidFill>
                <a:latin typeface="+mj-lt"/>
                <a:ea typeface="Quattrocento Sans" pitchFamily="34" charset="-122"/>
                <a:cs typeface="Quattrocento Sans" pitchFamily="34" charset="-120"/>
              </a:rPr>
              <a:t>Proc. of ICML</a:t>
            </a:r>
            <a:r>
              <a:rPr lang="en-US" sz="1500" dirty="0">
                <a:solidFill>
                  <a:srgbClr val="37474F"/>
                </a:solidFill>
                <a:latin typeface="+mj-lt"/>
                <a:ea typeface="Quattrocento Sans" pitchFamily="34" charset="-122"/>
                <a:cs typeface="Quattrocento Sans" pitchFamily="34" charset="-120"/>
              </a:rPr>
              <a:t>, 2006.</a:t>
            </a:r>
            <a:endParaRPr lang="en-US" sz="1600" dirty="0">
              <a:latin typeface="+mj-lt"/>
            </a:endParaRPr>
          </a:p>
          <a:p>
            <a:pPr>
              <a:lnSpc>
                <a:spcPct val="18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37474F"/>
                </a:solidFill>
                <a:latin typeface="+mj-lt"/>
                <a:ea typeface="Quattrocento Sans" pitchFamily="34" charset="-122"/>
                <a:cs typeface="Quattrocento Sans" pitchFamily="34" charset="-120"/>
              </a:rPr>
              <a:t>[3]</a:t>
            </a:r>
            <a:r>
              <a:rPr lang="en-US" sz="1500" dirty="0">
                <a:solidFill>
                  <a:srgbClr val="37474F"/>
                </a:solidFill>
                <a:latin typeface="+mj-lt"/>
                <a:ea typeface="Quattrocento Sans" pitchFamily="34" charset="-122"/>
                <a:cs typeface="Quattrocento Sans" pitchFamily="34" charset="-120"/>
              </a:rPr>
              <a:t> Dong L., Xu S., Xu B., "Speech-Transformer: A No-Recurrence Sequence-to-Sequence Model for Speech Recognition," </a:t>
            </a:r>
            <a:r>
              <a:rPr lang="en-US" sz="1500" i="1" dirty="0">
                <a:solidFill>
                  <a:srgbClr val="37474F"/>
                </a:solidFill>
                <a:latin typeface="+mj-lt"/>
                <a:ea typeface="Quattrocento Sans" pitchFamily="34" charset="-122"/>
                <a:cs typeface="Quattrocento Sans" pitchFamily="34" charset="-120"/>
              </a:rPr>
              <a:t>IEEE ICASSP</a:t>
            </a:r>
            <a:r>
              <a:rPr lang="en-US" sz="1500" dirty="0">
                <a:solidFill>
                  <a:srgbClr val="37474F"/>
                </a:solidFill>
                <a:latin typeface="+mj-lt"/>
                <a:ea typeface="Quattrocento Sans" pitchFamily="34" charset="-122"/>
                <a:cs typeface="Quattrocento Sans" pitchFamily="34" charset="-120"/>
              </a:rPr>
              <a:t>, 2018. </a:t>
            </a:r>
            <a:r>
              <a:rPr lang="en-US" sz="1500" u="sng" dirty="0">
                <a:solidFill>
                  <a:srgbClr val="37474F"/>
                </a:solidFill>
                <a:latin typeface="+mj-lt"/>
                <a:ea typeface="Quattrocento Sans" pitchFamily="34" charset="-122"/>
                <a:cs typeface="Quattrocento Sans" pitchFamily="34" charset="-120"/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PDF</a:t>
            </a:r>
            <a:endParaRPr lang="en-US" sz="1600" dirty="0">
              <a:latin typeface="+mj-lt"/>
            </a:endParaRPr>
          </a:p>
          <a:p>
            <a:pPr>
              <a:lnSpc>
                <a:spcPct val="18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37474F"/>
                </a:solidFill>
                <a:latin typeface="+mj-lt"/>
                <a:ea typeface="Quattrocento Sans" pitchFamily="34" charset="-122"/>
                <a:cs typeface="Quattrocento Sans" pitchFamily="34" charset="-120"/>
              </a:rPr>
              <a:t>[4]</a:t>
            </a:r>
            <a:r>
              <a:rPr lang="en-US" sz="1500" dirty="0">
                <a:solidFill>
                  <a:srgbClr val="37474F"/>
                </a:solidFill>
                <a:latin typeface="+mj-lt"/>
                <a:ea typeface="Quattrocento Sans" pitchFamily="34" charset="-122"/>
                <a:cs typeface="Quattrocento Sans" pitchFamily="34" charset="-120"/>
              </a:rPr>
              <a:t> NVIDIA NeMo CTC Segmentation Tutorial, </a:t>
            </a:r>
            <a:r>
              <a:rPr lang="en-US" sz="1500" u="sng" dirty="0">
                <a:solidFill>
                  <a:srgbClr val="37474F"/>
                </a:solidFill>
                <a:latin typeface="+mj-lt"/>
                <a:ea typeface="Quattrocento Sans" pitchFamily="34" charset="-122"/>
                <a:cs typeface="Quattrocento Sans" pitchFamily="34" charset="-120"/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Colab Notebook</a:t>
            </a:r>
            <a:r>
              <a:rPr lang="en-US" sz="1500" dirty="0">
                <a:solidFill>
                  <a:srgbClr val="37474F"/>
                </a:solidFill>
                <a:latin typeface="+mj-lt"/>
                <a:ea typeface="Quattrocento Sans" pitchFamily="34" charset="-122"/>
                <a:cs typeface="Quattrocento Sans" pitchFamily="34" charset="-120"/>
              </a:rPr>
              <a:t>, 2023.</a:t>
            </a:r>
            <a:endParaRPr lang="en-US" sz="1600" dirty="0">
              <a:latin typeface="+mj-lt"/>
            </a:endParaRPr>
          </a:p>
          <a:p>
            <a:pPr>
              <a:lnSpc>
                <a:spcPct val="18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37474F"/>
                </a:solidFill>
                <a:latin typeface="+mj-lt"/>
                <a:ea typeface="Quattrocento Sans" pitchFamily="34" charset="-122"/>
                <a:cs typeface="Quattrocento Sans" pitchFamily="34" charset="-120"/>
              </a:rPr>
              <a:t>[5]</a:t>
            </a:r>
            <a:r>
              <a:rPr lang="en-US" sz="1500" dirty="0">
                <a:solidFill>
                  <a:srgbClr val="37474F"/>
                </a:solidFill>
                <a:latin typeface="+mj-lt"/>
                <a:ea typeface="Quattrocento Sans" pitchFamily="34" charset="-122"/>
                <a:cs typeface="Quattrocento Sans" pitchFamily="34" charset="-120"/>
              </a:rPr>
              <a:t> Kürzinger L., </a:t>
            </a:r>
            <a:r>
              <a:rPr lang="en-US" sz="1500" i="1" dirty="0">
                <a:solidFill>
                  <a:srgbClr val="37474F"/>
                </a:solidFill>
                <a:latin typeface="+mj-lt"/>
                <a:ea typeface="Quattrocento Sans" pitchFamily="34" charset="-122"/>
                <a:cs typeface="Quattrocento Sans" pitchFamily="34" charset="-120"/>
              </a:rPr>
              <a:t>ctc-segmentation</a:t>
            </a:r>
            <a:r>
              <a:rPr lang="en-US" sz="1500" dirty="0">
                <a:solidFill>
                  <a:srgbClr val="37474F"/>
                </a:solidFill>
                <a:latin typeface="+mj-lt"/>
                <a:ea typeface="Quattrocento Sans" pitchFamily="34" charset="-122"/>
                <a:cs typeface="Quattrocento Sans" pitchFamily="34" charset="-120"/>
              </a:rPr>
              <a:t> Python Package, </a:t>
            </a:r>
            <a:r>
              <a:rPr lang="en-US" sz="1500" u="sng" dirty="0">
                <a:solidFill>
                  <a:srgbClr val="37474F"/>
                </a:solidFill>
                <a:latin typeface="+mj-lt"/>
                <a:ea typeface="Quattrocento Sans" pitchFamily="34" charset="-122"/>
                <a:cs typeface="Quattrocento Sans" pitchFamily="34" charset="-120"/>
                <a:hlinkClick r:id="rId5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github.com/lumaku/ctc-segmentation</a:t>
            </a:r>
            <a:r>
              <a:rPr lang="en-US" sz="1500" dirty="0">
                <a:solidFill>
                  <a:srgbClr val="37474F"/>
                </a:solidFill>
                <a:latin typeface="+mj-lt"/>
                <a:ea typeface="Quattrocento Sans" pitchFamily="34" charset="-122"/>
                <a:cs typeface="Quattrocento Sans" pitchFamily="34" charset="-120"/>
              </a:rPr>
              <a:t>, 2020.</a:t>
            </a:r>
            <a:endParaRPr lang="en-US" sz="1600" dirty="0">
              <a:latin typeface="+mj-lt"/>
            </a:endParaRPr>
          </a:p>
          <a:p>
            <a:pPr>
              <a:lnSpc>
                <a:spcPct val="18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37474F"/>
                </a:solidFill>
                <a:latin typeface="+mj-lt"/>
                <a:ea typeface="Quattrocento Sans" pitchFamily="34" charset="-122"/>
                <a:cs typeface="Quattrocento Sans" pitchFamily="34" charset="-120"/>
              </a:rPr>
              <a:t>[6]</a:t>
            </a:r>
            <a:r>
              <a:rPr lang="en-US" sz="1500" dirty="0">
                <a:solidFill>
                  <a:srgbClr val="37474F"/>
                </a:solidFill>
                <a:latin typeface="+mj-lt"/>
                <a:ea typeface="Quattrocento Sans" pitchFamily="34" charset="-122"/>
                <a:cs typeface="Quattrocento Sans" pitchFamily="34" charset="-120"/>
              </a:rPr>
              <a:t> Martinčić-Ipsić S., Ribaric S., Ipsić I., "Acoustic Modelling for Croatian Speech Recognition and Synthesis," </a:t>
            </a:r>
            <a:r>
              <a:rPr lang="en-US" sz="1500" i="1" dirty="0">
                <a:solidFill>
                  <a:srgbClr val="37474F"/>
                </a:solidFill>
                <a:latin typeface="+mj-lt"/>
                <a:ea typeface="Quattrocento Sans" pitchFamily="34" charset="-122"/>
                <a:cs typeface="Quattrocento Sans" pitchFamily="34" charset="-120"/>
              </a:rPr>
              <a:t>INFORMATICA</a:t>
            </a:r>
            <a:r>
              <a:rPr lang="en-US" sz="1500" dirty="0">
                <a:solidFill>
                  <a:srgbClr val="37474F"/>
                </a:solidFill>
                <a:latin typeface="+mj-lt"/>
                <a:ea typeface="Quattrocento Sans" pitchFamily="34" charset="-122"/>
                <a:cs typeface="Quattrocento Sans" pitchFamily="34" charset="-120"/>
              </a:rPr>
              <a:t>, Vol. 18, No. 2, pp. 227-240, 2007.</a:t>
            </a:r>
            <a:endParaRPr lang="en-US" sz="1600" dirty="0">
              <a:latin typeface="+mj-lt"/>
            </a:endParaRPr>
          </a:p>
          <a:p>
            <a:pPr>
              <a:lnSpc>
                <a:spcPct val="18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37474F"/>
                </a:solidFill>
                <a:latin typeface="+mj-lt"/>
                <a:ea typeface="Quattrocento Sans" pitchFamily="34" charset="-122"/>
                <a:cs typeface="Quattrocento Sans" pitchFamily="34" charset="-120"/>
              </a:rPr>
              <a:t>[7]</a:t>
            </a:r>
            <a:r>
              <a:rPr lang="en-US" sz="1500" dirty="0">
                <a:solidFill>
                  <a:srgbClr val="37474F"/>
                </a:solidFill>
                <a:latin typeface="+mj-lt"/>
                <a:ea typeface="Quattrocento Sans" pitchFamily="34" charset="-122"/>
                <a:cs typeface="Quattrocento Sans" pitchFamily="34" charset="-120"/>
              </a:rPr>
              <a:t> Watanabe S. et al., "ESPnet: End-to-End Speech Processing Toolkit," </a:t>
            </a:r>
            <a:r>
              <a:rPr lang="en-US" sz="1500" i="1" dirty="0">
                <a:solidFill>
                  <a:srgbClr val="37474F"/>
                </a:solidFill>
                <a:latin typeface="+mj-lt"/>
                <a:ea typeface="Quattrocento Sans" pitchFamily="34" charset="-122"/>
                <a:cs typeface="Quattrocento Sans" pitchFamily="34" charset="-120"/>
              </a:rPr>
              <a:t>Proc. of Interspeech</a:t>
            </a:r>
            <a:r>
              <a:rPr lang="en-US" sz="1500" dirty="0">
                <a:solidFill>
                  <a:srgbClr val="37474F"/>
                </a:solidFill>
                <a:latin typeface="+mj-lt"/>
                <a:ea typeface="Quattrocento Sans" pitchFamily="34" charset="-122"/>
                <a:cs typeface="Quattrocento Sans" pitchFamily="34" charset="-120"/>
              </a:rPr>
              <a:t>, 2018.</a:t>
            </a:r>
            <a:endParaRPr lang="en-US" sz="1600" dirty="0">
              <a:latin typeface="+mj-lt"/>
            </a:endParaRPr>
          </a:p>
          <a:p>
            <a:pPr>
              <a:lnSpc>
                <a:spcPct val="18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37474F"/>
                </a:solidFill>
                <a:latin typeface="+mj-lt"/>
                <a:ea typeface="Quattrocento Sans" pitchFamily="34" charset="-122"/>
                <a:cs typeface="Quattrocento Sans" pitchFamily="34" charset="-120"/>
              </a:rPr>
              <a:t>[8]</a:t>
            </a:r>
            <a:r>
              <a:rPr lang="en-US" sz="1500" dirty="0">
                <a:solidFill>
                  <a:srgbClr val="37474F"/>
                </a:solidFill>
                <a:latin typeface="+mj-lt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400" dirty="0">
                <a:solidFill>
                  <a:srgbClr val="37474F"/>
                </a:solidFill>
                <a:latin typeface="+mj-lt"/>
                <a:ea typeface="Quattrocento Sans" pitchFamily="34" charset="-122"/>
                <a:cs typeface="Quattrocento Sans" pitchFamily="34" charset="-120"/>
              </a:rPr>
              <a:t>[</a:t>
            </a:r>
            <a:r>
              <a:rPr lang="en-US" sz="1400" dirty="0" err="1">
                <a:solidFill>
                  <a:srgbClr val="37474F"/>
                </a:solidFill>
                <a:latin typeface="+mj-lt"/>
                <a:ea typeface="Quattrocento Sans" pitchFamily="34" charset="-122"/>
                <a:cs typeface="Quattrocento Sans" pitchFamily="34" charset="-120"/>
              </a:rPr>
              <a:t>ParlaSpeech</a:t>
            </a:r>
            <a:r>
              <a:rPr lang="en-US" sz="1400" dirty="0">
                <a:solidFill>
                  <a:srgbClr val="37474F"/>
                </a:solidFill>
                <a:latin typeface="+mj-lt"/>
                <a:ea typeface="Quattrocento Sans" pitchFamily="34" charset="-122"/>
                <a:cs typeface="Quattrocento Sans" pitchFamily="34" charset="-120"/>
              </a:rPr>
              <a:t>-HR - a Freely Available ASR Dataset for Croatian Bootstrapped from the </a:t>
            </a:r>
            <a:r>
              <a:rPr lang="en-US" sz="1400" dirty="0" err="1">
                <a:solidFill>
                  <a:srgbClr val="37474F"/>
                </a:solidFill>
                <a:latin typeface="+mj-lt"/>
                <a:ea typeface="Quattrocento Sans" pitchFamily="34" charset="-122"/>
                <a:cs typeface="Quattrocento Sans" pitchFamily="34" charset="-120"/>
              </a:rPr>
              <a:t>ParlaMint</a:t>
            </a:r>
            <a:r>
              <a:rPr lang="hr-HR" sz="1400" dirty="0">
                <a:solidFill>
                  <a:srgbClr val="37474F"/>
                </a:solidFill>
                <a:latin typeface="+mj-lt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400" dirty="0">
                <a:solidFill>
                  <a:srgbClr val="37474F"/>
                </a:solidFill>
                <a:latin typeface="+mj-lt"/>
                <a:ea typeface="Quattrocento Sans" pitchFamily="34" charset="-122"/>
                <a:cs typeface="Quattrocento Sans" pitchFamily="34" charset="-120"/>
              </a:rPr>
              <a:t>Corpus](https://aclanthology.org/2022.parlaclarin-1.16/) (</a:t>
            </a:r>
            <a:r>
              <a:rPr lang="en-US" sz="1400" dirty="0" err="1">
                <a:solidFill>
                  <a:srgbClr val="37474F"/>
                </a:solidFill>
                <a:latin typeface="+mj-lt"/>
                <a:ea typeface="Quattrocento Sans" pitchFamily="34" charset="-122"/>
                <a:cs typeface="Quattrocento Sans" pitchFamily="34" charset="-120"/>
              </a:rPr>
              <a:t>Ljubešić</a:t>
            </a:r>
            <a:r>
              <a:rPr lang="en-US" sz="1400" dirty="0">
                <a:solidFill>
                  <a:srgbClr val="37474F"/>
                </a:solidFill>
                <a:latin typeface="+mj-lt"/>
                <a:ea typeface="Quattrocento Sans" pitchFamily="34" charset="-122"/>
                <a:cs typeface="Quattrocento Sans" pitchFamily="34" charset="-120"/>
              </a:rPr>
              <a:t> et al., </a:t>
            </a:r>
            <a:r>
              <a:rPr lang="en-US" sz="1400" dirty="0" err="1">
                <a:solidFill>
                  <a:srgbClr val="37474F"/>
                </a:solidFill>
                <a:latin typeface="+mj-lt"/>
                <a:ea typeface="Quattrocento Sans" pitchFamily="34" charset="-122"/>
                <a:cs typeface="Quattrocento Sans" pitchFamily="34" charset="-120"/>
              </a:rPr>
              <a:t>ParlaCLARIN</a:t>
            </a:r>
            <a:r>
              <a:rPr lang="en-US" sz="1400" dirty="0">
                <a:solidFill>
                  <a:srgbClr val="37474F"/>
                </a:solidFill>
                <a:latin typeface="+mj-lt"/>
                <a:ea typeface="Quattrocento Sans" pitchFamily="34" charset="-122"/>
                <a:cs typeface="Quattrocento Sans" pitchFamily="34" charset="-120"/>
              </a:rPr>
              <a:t> 2022)</a:t>
            </a:r>
            <a:endParaRPr lang="en-US" sz="1400" dirty="0">
              <a:latin typeface="+mj-lt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5DEAD5E-69BB-BFF5-6360-A2D4D61D1FA4}"/>
              </a:ext>
            </a:extLst>
          </p:cNvPr>
          <p:cNvSpPr/>
          <p:nvPr/>
        </p:nvSpPr>
        <p:spPr>
          <a:xfrm flipV="1">
            <a:off x="3726543" y="7159623"/>
            <a:ext cx="10395856" cy="45719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hr-HR">
              <a:latin typeface="+mj-lt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62DDFFE-F1A2-16AB-A07E-1C388D485C6B}"/>
              </a:ext>
            </a:extLst>
          </p:cNvPr>
          <p:cNvSpPr/>
          <p:nvPr/>
        </p:nvSpPr>
        <p:spPr>
          <a:xfrm>
            <a:off x="12837658" y="6853273"/>
            <a:ext cx="649741" cy="1539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0A4AE"/>
                </a:solidFill>
                <a:latin typeface="+mj-lt"/>
                <a:ea typeface="Quattrocento Sans" pitchFamily="34" charset="-122"/>
                <a:cs typeface="Quattrocento Sans" pitchFamily="34" charset="-120"/>
              </a:rPr>
              <a:t>15 / 16</a:t>
            </a:r>
            <a:endParaRPr lang="en-US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458727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DDD3D0D-73F3-4E3C-C65D-EC76EACB4F8E}"/>
              </a:ext>
            </a:extLst>
          </p:cNvPr>
          <p:cNvSpPr/>
          <p:nvPr/>
        </p:nvSpPr>
        <p:spPr>
          <a:xfrm>
            <a:off x="-1774825" y="-1743075"/>
            <a:ext cx="16256000" cy="0"/>
          </a:xfrm>
          <a:prstGeom prst="straightConnector1">
            <a:avLst/>
          </a:prstGeom>
          <a:noFill/>
          <a:ln w="50800">
            <a:solidFill>
              <a:srgbClr val="90A4A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hr-HR">
              <a:latin typeface="+mj-lt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8110B02-35A6-1B1C-54C8-109088BF3640}"/>
              </a:ext>
            </a:extLst>
          </p:cNvPr>
          <p:cNvSpPr/>
          <p:nvPr/>
        </p:nvSpPr>
        <p:spPr>
          <a:xfrm>
            <a:off x="1016000" y="2168530"/>
            <a:ext cx="10042525" cy="6984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00" b="1" dirty="0">
                <a:solidFill>
                  <a:srgbClr val="FFFFFF"/>
                </a:solidFill>
                <a:latin typeface="+mj-lt"/>
                <a:ea typeface="Quattrocento Sans" pitchFamily="34" charset="-122"/>
                <a:cs typeface="Quattrocento Sans" pitchFamily="34" charset="-120"/>
              </a:rPr>
              <a:t>Hvala na pažnji</a:t>
            </a:r>
            <a:endParaRPr lang="en-US" sz="1600" dirty="0">
              <a:latin typeface="+mj-lt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5FF67C8-CA46-18B2-53BC-66CEDF7C3825}"/>
              </a:ext>
            </a:extLst>
          </p:cNvPr>
          <p:cNvSpPr/>
          <p:nvPr/>
        </p:nvSpPr>
        <p:spPr>
          <a:xfrm>
            <a:off x="4318000" y="3241675"/>
            <a:ext cx="3556000" cy="0"/>
          </a:xfrm>
          <a:prstGeom prst="straightConnector1">
            <a:avLst/>
          </a:prstGeom>
          <a:noFill/>
          <a:ln w="12700">
            <a:solidFill>
              <a:srgbClr val="90A4A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hr-HR">
              <a:latin typeface="+mj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E80CF89-B469-806D-CB95-54614E3DAD0C}"/>
              </a:ext>
            </a:extLst>
          </p:cNvPr>
          <p:cNvSpPr/>
          <p:nvPr/>
        </p:nvSpPr>
        <p:spPr>
          <a:xfrm>
            <a:off x="1016000" y="3616325"/>
            <a:ext cx="1016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80000"/>
              </a:lnSpc>
            </a:pPr>
            <a:r>
              <a:rPr lang="en-US" sz="1600" dirty="0">
                <a:solidFill>
                  <a:srgbClr val="90A4AE"/>
                </a:solidFill>
                <a:latin typeface="+mj-lt"/>
                <a:ea typeface="Quattrocento Sans" pitchFamily="34" charset="-122"/>
                <a:cs typeface="Quattrocento Sans" pitchFamily="34" charset="-120"/>
              </a:rPr>
              <a:t>Pitanja i rasprava</a:t>
            </a:r>
            <a:endParaRPr lang="en-US" sz="1600" dirty="0">
              <a:latin typeface="+mj-lt"/>
            </a:endParaRPr>
          </a:p>
          <a:p>
            <a:pPr algn="ctr">
              <a:lnSpc>
                <a:spcPct val="180000"/>
              </a:lnSpc>
            </a:pPr>
            <a:r>
              <a:rPr lang="en-US" sz="1600" dirty="0">
                <a:solidFill>
                  <a:srgbClr val="90A4AE"/>
                </a:solidFill>
                <a:latin typeface="+mj-lt"/>
                <a:ea typeface="Quattrocento Sans" pitchFamily="34" charset="-122"/>
                <a:cs typeface="Quattrocento Sans" pitchFamily="34" charset="-120"/>
              </a:rPr>
              <a:t>Lukas Krbavčić | CTC Segmentacija govora</a:t>
            </a:r>
            <a:endParaRPr lang="en-US" sz="1600" dirty="0">
              <a:latin typeface="+mj-lt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C8A27B3-81D2-77DC-4563-03C5E0BFA22D}"/>
              </a:ext>
            </a:extLst>
          </p:cNvPr>
          <p:cNvSpPr/>
          <p:nvPr/>
        </p:nvSpPr>
        <p:spPr>
          <a:xfrm>
            <a:off x="-1774825" y="7350125"/>
            <a:ext cx="16256000" cy="0"/>
          </a:xfrm>
          <a:prstGeom prst="straightConnector1">
            <a:avLst/>
          </a:prstGeom>
          <a:noFill/>
          <a:ln w="50800">
            <a:solidFill>
              <a:srgbClr val="90A4A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hr-HR">
              <a:latin typeface="+mj-lt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1AA5E73-2AC1-70D7-A824-0C657BA7E50E}"/>
              </a:ext>
            </a:extLst>
          </p:cNvPr>
          <p:cNvSpPr/>
          <p:nvPr/>
        </p:nvSpPr>
        <p:spPr>
          <a:xfrm>
            <a:off x="12830175" y="6892925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0A4AE"/>
                </a:solidFill>
                <a:latin typeface="+mj-lt"/>
                <a:ea typeface="Quattrocento Sans" pitchFamily="34" charset="-122"/>
                <a:cs typeface="Quattrocento Sans" pitchFamily="34" charset="-120"/>
              </a:rPr>
              <a:t>16 / 16</a:t>
            </a:r>
            <a:endParaRPr lang="en-US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85744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978</TotalTime>
  <Words>1362</Words>
  <Application>Microsoft Office PowerPoint</Application>
  <PresentationFormat>Široki zaslon</PresentationFormat>
  <Paragraphs>300</Paragraphs>
  <Slides>14</Slides>
  <Notes>10</Notes>
  <HiddenSlides>0</HiddenSlides>
  <MMClips>0</MMClips>
  <ScaleCrop>false</ScaleCrop>
  <HeadingPairs>
    <vt:vector size="6" baseType="variant">
      <vt:variant>
        <vt:lpstr>Korišteni fontovi</vt:lpstr>
      </vt:variant>
      <vt:variant>
        <vt:i4>6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Consolas</vt:lpstr>
      <vt:lpstr>Georgia</vt:lpstr>
      <vt:lpstr>QuattrocentoSans</vt:lpstr>
      <vt:lpstr>Office Theme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CTC segmentacija signala govora – VEPRAD</dc:title>
  <dc:subject>PptxGenJS Presentation</dc:subject>
  <dc:creator>Lukas</dc:creator>
  <cp:lastModifiedBy>Lukas Krbavčić</cp:lastModifiedBy>
  <cp:revision>11</cp:revision>
  <dcterms:created xsi:type="dcterms:W3CDTF">2026-06-06T16:56:33Z</dcterms:created>
  <dcterms:modified xsi:type="dcterms:W3CDTF">2026-06-07T10:42:34Z</dcterms:modified>
</cp:coreProperties>
</file>